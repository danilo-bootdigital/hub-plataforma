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Antes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Visibilidade</c:v>
                  </c:pt>
                  <c:pt idx="1">
                    <c:v>Controle de Acesso</c:v>
                  </c:pt>
                  <c:pt idx="2">
                    <c:v>Rastreabilidade</c:v>
                  </c:pt>
                  <c:pt idx="3">
                    <c:v>Produtividade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15</c:v>
                </c:pt>
                <c:pt idx="2">
                  <c:v>10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Depois</c:v>
                </c:pt>
              </c:strCache>
            </c:strRef>
          </c:tx>
          <c:spPr>
            <a:solidFill>
              <a:srgbClr val="0D7B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Visibilidade</c:v>
                  </c:pt>
                  <c:pt idx="1">
                    <c:v>Controle de Acesso</c:v>
                  </c:pt>
                  <c:pt idx="2">
                    <c:v>Rastreabilidade</c:v>
                  </c:pt>
                  <c:pt idx="3">
                    <c:v>Produtividade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</c:v>
                </c:pt>
                <c:pt idx="1">
                  <c:v>90</c:v>
                </c:pt>
                <c:pt idx="2">
                  <c:v>95</c:v>
                </c:pt>
                <c:pt idx="3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Apresente o nome da plataforma e o objetivo: transformar a operação comercial da StinPharma.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o Hub Plataforma não é um sistema genérico — foi pensado especificamente para a operação comercial da indústria farmacêutica/StinPharma.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como cada entidade se conecta ao centro. A indústria controla tudo — Hubs operam dentro das regras definidas pela StinPharma.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cada dor com empatia — o gestor provavelmente já viveu todas elas. A plataforma foi construída para resolver exatamente esses problemas.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o fluxo operacional passo a passo. Destaque que todo o ciclo está dentro de uma única plataforma — sem sistemas paralelos.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Foco nos resultados concretos. O gráfico é ilustrativo — adapte para dados reais se disponíveis. Os 4 pontos à direita são os ganhos mais citados por gestores de indústria.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a plataforma não é um sistema estático — ela cresce com a StinPharma. Cada nova funcionalidade está alinhada às necessidades reais da indústria.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um slide crítico para o gestor. Reforce que o Hub Plataforma dá controle e propriedade dos dados de volta para a indústria — o representante opera, mas a StinPharma é dona.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convicção. Deixe os próximos passos claros — a reunião deve terminar com uma ação definida, não com dúvidas.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1600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6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116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Comercial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Indústria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49040" y="11887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Transformando a Operação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Comercial da StinPharma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749040" y="27432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visão completa de como o Hub Plataforma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centraliza, protege e escala a operação comercial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sua indústria.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da Plataforma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3840480" cy="36576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Hub Plataforma</a:t>
            </a:r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 plataforma de gestão comercial da StinPharma — uma Aplicação Web que organiza toda a operação, do primeiro contato com o cliente até o pedido confirmado.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 → Hub → Carteira → Cliente → Atendimento → Orçamento → Pedido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374904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0FDFA"/>
          </a:solidFill>
          <a:ln w="12700">
            <a:solidFill>
              <a:srgbClr val="D1FA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94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própria · Dados da Indústria · Multiusuário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987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Indústria no Centro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298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StinPharma é a dona dos dados. Hubs e Assistentes operam sob sua autorização.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411480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901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Catálogo Estruturado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212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→ Categoria → Subcategoria → Produto. Organizado e controlado.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743200"/>
            <a:ext cx="411480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816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Ciclo Comercial Completo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127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Solicitação de Novo Cliente até o Pedido finalizado, tudo rastreado.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657600"/>
            <a:ext cx="411480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730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Perfis e Acessos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041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Gestor, Proprietário do Hub e Assistente — cada um vê e faz o que é seu.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Mental — Ecossistema Hub Plataforma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4572000" cy="36576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77640" y="2189988"/>
            <a:ext cx="1188720" cy="832104"/>
          </a:xfrm>
          <a:prstGeom prst="ellipse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77640" y="23088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65860" y="1152144"/>
            <a:ext cx="3406140" cy="1773936"/>
          </a:xfrm>
          <a:prstGeom prst="line">
            <a:avLst/>
          </a:prstGeom>
          <a:noFill/>
          <a:ln w="15240">
            <a:solidFill>
              <a:srgbClr val="CBD5E1"/>
            </a:solidFill>
            <a:prstDash val="sysDash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8686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(Tenant Raiz)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03220" y="1014984"/>
            <a:ext cx="1668780" cy="1911096"/>
          </a:xfrm>
          <a:prstGeom prst="line">
            <a:avLst/>
          </a:prstGeom>
          <a:noFill/>
          <a:ln w="15240">
            <a:solidFill>
              <a:srgbClr val="CBD5E1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2194560" y="68580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40280" y="7315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(Unidade de Negócio)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014984"/>
            <a:ext cx="2537460" cy="1911096"/>
          </a:xfrm>
          <a:prstGeom prst="line">
            <a:avLst/>
          </a:prstGeom>
          <a:noFill/>
          <a:ln w="15240">
            <a:solidFill>
              <a:srgbClr val="CBD5E1"/>
            </a:solidFill>
            <a:prstDash val="sysDash"/>
          </a:ln>
        </p:spPr>
      </p:sp>
      <p:sp>
        <p:nvSpPr>
          <p:cNvPr id="13" name="Shape 11"/>
          <p:cNvSpPr/>
          <p:nvPr/>
        </p:nvSpPr>
        <p:spPr>
          <a:xfrm>
            <a:off x="6400800" y="68580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14A896"/>
          </a:solidFill>
          <a:ln w="12700">
            <a:solidFill>
              <a:srgbClr val="14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7315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(Grupos de Clientes)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2340864"/>
            <a:ext cx="3909060" cy="585216"/>
          </a:xfrm>
          <a:prstGeom prst="line">
            <a:avLst/>
          </a:prstGeom>
          <a:noFill/>
          <a:ln w="15240">
            <a:solidFill>
              <a:srgbClr val="CBD5E1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7772400" y="201168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14A896"/>
          </a:solidFill>
          <a:ln w="12700">
            <a:solidFill>
              <a:srgbClr val="14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18120" y="205740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(Contatos)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2926080"/>
            <a:ext cx="3634740" cy="969264"/>
          </a:xfrm>
          <a:prstGeom prst="line">
            <a:avLst/>
          </a:prstGeom>
          <a:noFill/>
          <a:ln w="15240">
            <a:solidFill>
              <a:srgbClr val="CBD5E1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7498080" y="356616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43800" y="36118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2926080"/>
            <a:ext cx="2354580" cy="1792224"/>
          </a:xfrm>
          <a:prstGeom prst="line">
            <a:avLst/>
          </a:prstGeom>
          <a:noFill/>
          <a:ln w="15240">
            <a:solidFill>
              <a:srgbClr val="CBD5E1"/>
            </a:solidFill>
            <a:prstDash val="sysDash"/>
          </a:ln>
        </p:spPr>
      </p:sp>
      <p:sp>
        <p:nvSpPr>
          <p:cNvPr id="22" name="Shape 20"/>
          <p:cNvSpPr/>
          <p:nvPr/>
        </p:nvSpPr>
        <p:spPr>
          <a:xfrm>
            <a:off x="6217920" y="438912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44348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Pedidos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43300" y="2926080"/>
            <a:ext cx="1028700" cy="1837944"/>
          </a:xfrm>
          <a:prstGeom prst="line">
            <a:avLst/>
          </a:prstGeom>
          <a:noFill/>
          <a:ln w="15240">
            <a:solidFill>
              <a:srgbClr val="CBD5E1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>
            <a:off x="2834640" y="443484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880360" y="44805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57300" y="2926080"/>
            <a:ext cx="3314700" cy="1060704"/>
          </a:xfrm>
          <a:prstGeom prst="line">
            <a:avLst/>
          </a:prstGeom>
          <a:noFill/>
          <a:ln w="15240">
            <a:solidFill>
              <a:srgbClr val="CBD5E1"/>
            </a:solidFill>
            <a:prstDash val="sysDash"/>
          </a:ln>
        </p:spPr>
      </p:sp>
      <p:sp>
        <p:nvSpPr>
          <p:cNvPr id="28" name="Shape 26"/>
          <p:cNvSpPr/>
          <p:nvPr/>
        </p:nvSpPr>
        <p:spPr>
          <a:xfrm>
            <a:off x="548640" y="365760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37033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Acessos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74420" y="2615184"/>
            <a:ext cx="3497580" cy="310896"/>
          </a:xfrm>
          <a:prstGeom prst="line">
            <a:avLst/>
          </a:prstGeom>
          <a:noFill/>
          <a:ln w="15240">
            <a:solidFill>
              <a:srgbClr val="CBD5E1"/>
            </a:solidFill>
            <a:prstDash val="sysDash"/>
          </a:ln>
        </p:spPr>
      </p:sp>
      <p:sp>
        <p:nvSpPr>
          <p:cNvPr id="31" name="Shape 29"/>
          <p:cNvSpPr/>
          <p:nvPr/>
        </p:nvSpPr>
        <p:spPr>
          <a:xfrm>
            <a:off x="365760" y="228600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11480" y="23317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Segurança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Dores que o Hub Plataforma Resolve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438912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024128"/>
            <a:ext cx="2523744" cy="685800"/>
          </a:xfrm>
          <a:prstGeom prst="roundRect">
            <a:avLst>
              <a:gd name="adj" fmla="val 9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0332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Informação espalhada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124358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orçamentos e pedidos em planilhas, e-mails e sistemas separados.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" y="1828800"/>
            <a:ext cx="2523744" cy="777240"/>
          </a:xfrm>
          <a:prstGeom prst="roundRect">
            <a:avLst>
              <a:gd name="adj" fmla="val 8235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8470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206654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um único lugar: cliente, histórico, orçamento, pipeline e pedido.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0378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espalhada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9144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1024128"/>
            <a:ext cx="2523744" cy="685800"/>
          </a:xfrm>
          <a:prstGeom prst="roundRect">
            <a:avLst>
              <a:gd name="adj" fmla="val 9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0332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Sem controle de acesso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0712" y="124358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vendedor vê dados de qualquer cliente — risco de vazamento e conflito.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55848" y="1828800"/>
            <a:ext cx="2523744" cy="777240"/>
          </a:xfrm>
          <a:prstGeom prst="roundRect">
            <a:avLst>
              <a:gd name="adj" fmla="val 8235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18470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10712" y="206654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Carteiras distribuídas por Hub, com RBAC: cada usuário vê apenas o que é seu.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10378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controle de acesso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9144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81928" y="1024128"/>
            <a:ext cx="2523744" cy="685800"/>
          </a:xfrm>
          <a:prstGeom prst="roundRect">
            <a:avLst>
              <a:gd name="adj" fmla="val 9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10332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Pipeline sem visibilidade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36792" y="124358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gestor não sabe em que etapa estão as negociações nem quem está parado.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81928" y="1828800"/>
            <a:ext cx="2523744" cy="777240"/>
          </a:xfrm>
          <a:prstGeom prst="roundRect">
            <a:avLst>
              <a:gd name="adj" fmla="val 8235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18470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Solução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36792" y="206654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configurado pela Indústria, com etapas e acompanhamento em tempo real.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10378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sem visibilidade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2907792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" y="3017520"/>
            <a:ext cx="2523744" cy="685800"/>
          </a:xfrm>
          <a:prstGeom prst="roundRect">
            <a:avLst>
              <a:gd name="adj" fmla="val 9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30266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Catálogo desatualizado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" y="323697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Produtos, preços e portfólios divergentes entre representantes e indústria.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768" y="3822192"/>
            <a:ext cx="2523744" cy="777240"/>
          </a:xfrm>
          <a:prstGeom prst="roundRect">
            <a:avLst>
              <a:gd name="adj" fmla="val 8235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3840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Solução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" y="40599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gerido pela indústria. Hubs só acessam produtos autorizados.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30312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desatualizado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46120" y="2907792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55848" y="3017520"/>
            <a:ext cx="2523744" cy="685800"/>
          </a:xfrm>
          <a:prstGeom prst="roundRect">
            <a:avLst>
              <a:gd name="adj" fmla="val 9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10712" y="30266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Processo comercial informal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10712" y="323697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lead ao pedido sem rastreabilidade — sem auditoria, sem padrão.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55848" y="3822192"/>
            <a:ext cx="2523744" cy="777240"/>
          </a:xfrm>
          <a:prstGeom prst="roundRect">
            <a:avLst>
              <a:gd name="adj" fmla="val 8235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10712" y="3840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Solução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410712" y="40599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formalizado: Solicitação → Cliente → Atendimento → Orçamento → Pedido.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566160" y="30312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comercial informal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72200" y="2907792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81928" y="3017520"/>
            <a:ext cx="2523744" cy="685800"/>
          </a:xfrm>
          <a:prstGeom prst="roundRect">
            <a:avLst>
              <a:gd name="adj" fmla="val 9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36792" y="30266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Dependência de pessoas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36792" y="323697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Saiu o vendedor, perdeu o histórico. Clientes sem responsável definido.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81928" y="3822192"/>
            <a:ext cx="2523744" cy="777240"/>
          </a:xfrm>
          <a:prstGeom prst="roundRect">
            <a:avLst>
              <a:gd name="adj" fmla="val 8235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6792" y="3840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Solução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36792" y="40599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pertencem à Indústria. Redistribuição de carteira sem perda de dados.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92240" y="30312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pessoas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Hub Plataforma faz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3657600" cy="36576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38988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051560"/>
            <a:ext cx="512064" cy="51206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0698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6184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Novo Cliente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91640" y="1463040"/>
            <a:ext cx="12801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01368" y="960120"/>
            <a:ext cx="138988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40280" y="1051560"/>
            <a:ext cx="512064" cy="512064"/>
          </a:xfrm>
          <a:prstGeom prst="ellipse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0698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92808" y="16184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(Indústria)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1463040"/>
            <a:ext cx="12801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82696" y="960120"/>
            <a:ext cx="138988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1051560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1608" y="10698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74136" y="16184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Carteira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54296" y="1463040"/>
            <a:ext cx="12801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64024" y="960120"/>
            <a:ext cx="138988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02936" y="1051560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02936" y="10698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55464" y="16184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35624" y="1463040"/>
            <a:ext cx="12801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45352" y="960120"/>
            <a:ext cx="138988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84264" y="1051560"/>
            <a:ext cx="512064" cy="51206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10698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36792" y="16184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Emitido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16952" y="1463040"/>
            <a:ext cx="12801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6680" y="960120"/>
            <a:ext cx="138988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65592" y="1051560"/>
            <a:ext cx="512064" cy="51206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65592" y="10698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818120" y="16184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Pré-pedido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Pedido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2286000"/>
            <a:ext cx="4251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2377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Clientes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26974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Cadastro centralizado   • Vinculado à Carteira   • Histórico completo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2286000"/>
            <a:ext cx="4251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92040" y="2377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Produtos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92040" y="26974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Portfólio por Indústria   • Categoria/Subcategoria   • Autorização por Hub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3520440"/>
            <a:ext cx="4251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36118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Orçamentos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39319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Emissão pelo Assistente   • Aprovação pelo Cliente   • Conversão em Pedido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3520440"/>
            <a:ext cx="4251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92040" y="36118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Relatórios &amp; Pipeline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92040" y="39319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Etapas configuráveis   • Visibilidade em tempo real   • Auditoria de mudanças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Hub Plataforma Resolve para a StinPharma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5029200" cy="36576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comercial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91440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005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60604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perdidos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troca de vendedor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005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80060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para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ciclo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91440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95160" y="1005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99516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e Carteiras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× Depois da Plataforma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65760" y="2880360"/>
          <a:ext cx="53035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943600" y="2468880"/>
            <a:ext cx="288036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080760" y="24871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537960" y="250545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 controla o catálogo, os Hubs apenas operam com o que foi autorizado.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43600" y="3136392"/>
            <a:ext cx="288036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080760" y="3154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537960" y="31729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visualiza pipeline, Orçamentos e Pedidos de todos os Hubs em tempo real.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943600" y="3803904"/>
            <a:ext cx="288036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080760" y="38221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537960" y="3840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Redistribuição de Carteira sem perda de histórico — cliente pertence à Indústria.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943600" y="4471416"/>
            <a:ext cx="288036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080760" y="448970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537960" y="45079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 focam em vender; burocracia e aprovações são automatizadas na plataforma.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pode acontecer com o Hub Plataforma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438912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de Expansão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8229600" cy="0"/>
          </a:xfrm>
          <a:prstGeom prst="line">
            <a:avLst/>
          </a:prstGeom>
          <a:noFill/>
          <a:ln w="317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371600"/>
            <a:ext cx="329184" cy="329184"/>
          </a:xfrm>
          <a:prstGeom prst="ellipse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Carteiras, Hubs, Produtos, Orçamentos e Pedidos funcionando.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329184" cy="329184"/>
          </a:xfrm>
          <a:prstGeom prst="ellipse">
            <a:avLst/>
          </a:prstGeom>
          <a:solidFill>
            <a:srgbClr val="14A896"/>
          </a:solidFill>
          <a:ln w="12700">
            <a:solidFill>
              <a:srgbClr val="14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78308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5176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176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N:N por produto, preço comercial no vínculo Hub×Portfólio.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1371600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Médio Prazo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176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Comercial substitui Deal. Pré-pedido automatizado.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98080" y="137160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178308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2176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para Assistentes, integração com ERP, NF-e automática.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944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Oportunidades Habilitadas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" y="3383280"/>
            <a:ext cx="1645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🌎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1480" y="3913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Nacional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" y="42062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Hubs em qualquer região sem custo marginal relevante.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84832" y="3383280"/>
            <a:ext cx="1645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176272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176272" y="3913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Novos Portfólios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57984" y="42062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linhas de produto e autorizar Hubs seletivamente.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9624" y="3383280"/>
            <a:ext cx="1645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941064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941064" y="3913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Inteligência Comercial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22776" y="42062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pipeline viram relatórios de desempenho por Hub.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14416" y="3383280"/>
            <a:ext cx="1645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05856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705856" y="3913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Parceiros Autorizados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87568" y="42062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Representantes externos operam como Hubs com dados protegidos.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79208" y="3383280"/>
            <a:ext cx="1645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470648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470648" y="3913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Pharma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52360" y="42062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de pedidos, orçamentos e receituários controlados.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para a Empresa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Hub Plataforma foi construído com segurança como pilar, não como recurso adicional.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162A3F"/>
          </a:solidFill>
          <a:ln w="19050">
            <a:solidFill>
              <a:srgbClr val="0D7B6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78408" y="148132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são da Indústria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Clientes, produtos e orçamentos pertencem à StinPharma, não ao representante.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Ao desativar um Hub, os dados permanecem intactos na plataforma.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Zero risco de "levar a carteira" ao sair.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162A3F"/>
          </a:solidFill>
          <a:ln w="19050">
            <a:solidFill>
              <a:srgbClr val="14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13248" y="148132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de Acesso (RBAC)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9659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 perfis fixos: Admin, Gestor, Proprietário do Hub, Assistente.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Cada perfil enxerga e opera apenas o seu escopo.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Permissões granulares por Função dentro do Hub.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10896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162A3F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78408" y="321868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Isolamento por Tenant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Dados da StinPharma nunca cruzam com dados de outra indústria.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RLS (Row Level Security) no banco de dados — proteção em camada de infra.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Ambiente HUB DEV separado de produção.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162A3F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13248" y="321868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 &amp; Rastreabilidade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703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Toda mudança de estado de Hub é registrada com autor e timestamp.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Orçamentos têm ciclo de vida imutável após conversão.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EC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Histórico de Atendimentos e Pedidos sempre disponível para o Gestor.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Hub Plataforma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a Plataforma da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StinPharma.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Centralizada. Segura. Escalável.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Dados são seus — sempre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Equipe controlada por perfis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Pipeline visível para o Gestor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Escalável para quantos Hubs precisar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52160" y="822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897880" y="187452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97880" y="18928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892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fluxo com a equipe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97880" y="257860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25968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25968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Hubs StinPharma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97880" y="3282696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3300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3300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Portfólio de Produtos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7880" y="3986784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40050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4005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Assistentes e Gestores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Hub Plataforma — StinPharma</dc:title>
  <dc:subject>PptxGenJS Presentation</dc:subject>
  <dc:creator>Hub Plataforma</dc:creator>
  <cp:lastModifiedBy>Hub Plataforma</cp:lastModifiedBy>
  <cp:revision>1</cp:revision>
  <dcterms:created xsi:type="dcterms:W3CDTF">2026-07-02T14:03:45Z</dcterms:created>
  <dcterms:modified xsi:type="dcterms:W3CDTF">2026-07-02T14:03:45Z</dcterms:modified>
</cp:coreProperties>
</file>